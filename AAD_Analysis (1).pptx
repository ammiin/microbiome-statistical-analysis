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39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080195"/>
            <a:ext cx="762000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11849" y="1499295"/>
            <a:ext cx="57201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Antibiotic-Associated Diarrhea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2993236" y="2350815"/>
            <a:ext cx="323085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1200"/>
              </a:spcBef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 Microbiome Diversity Analysis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191000" y="2878485"/>
            <a:ext cx="762000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18470" y="3297585"/>
            <a:ext cx="29070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:</a:t>
            </a:r>
          </a:p>
          <a:p>
            <a:pPr marL="0" indent="0" algn="ctr">
              <a:lnSpc>
                <a:spcPts val="1470"/>
              </a:lnSpc>
              <a:buNone/>
            </a:pPr>
            <a:endParaRPr lang="en-US" sz="1050" dirty="0">
              <a:solidFill>
                <a:srgbClr val="FFFFFF">
                  <a:alpha val="70000"/>
                </a:srgb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cs typeface="Arial" pitchFamily="34" charset="-120"/>
              </a:rPr>
              <a:t>Shaimaa Ammar</a:t>
            </a:r>
          </a:p>
          <a:p>
            <a:pPr algn="ctr">
              <a:lnSpc>
                <a:spcPts val="147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cs typeface="Arial" pitchFamily="34" charset="-120"/>
              </a:rPr>
              <a:t>Mahmoud Amin</a:t>
            </a:r>
          </a:p>
          <a:p>
            <a:pPr algn="ctr">
              <a:lnSpc>
                <a:spcPts val="147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cs typeface="Arial" pitchFamily="34" charset="-120"/>
              </a:rPr>
              <a:t>Ali Marzban</a:t>
            </a:r>
          </a:p>
          <a:p>
            <a:pPr algn="ctr">
              <a:lnSpc>
                <a:spcPts val="147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cs typeface="Arial" pitchFamily="34" charset="-120"/>
              </a:rPr>
              <a:t>Abdelrahman Lotfy</a:t>
            </a:r>
          </a:p>
          <a:p>
            <a:pPr algn="ctr">
              <a:lnSpc>
                <a:spcPts val="1470"/>
              </a:lnSpc>
            </a:pPr>
            <a:endParaRPr lang="en-US" sz="1050" dirty="0"/>
          </a:p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096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0500" y="1583382"/>
            <a:ext cx="4229100" cy="927497"/>
          </a:xfrm>
          <a:prstGeom prst="roundRect">
            <a:avLst>
              <a:gd name="adj" fmla="val 410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09550" y="1583382"/>
            <a:ext cx="0" cy="927497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1000" y="1735782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1985218"/>
            <a:ext cx="396392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 Patients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0500" y="2663279"/>
            <a:ext cx="4229100" cy="767507"/>
          </a:xfrm>
          <a:prstGeom prst="roundRect">
            <a:avLst>
              <a:gd name="adj" fmla="val 4964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09550" y="2663279"/>
            <a:ext cx="0" cy="767507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1000" y="2815679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 CLASSES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065115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FQN (56) • OBL (111) • PBL (168)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0500" y="3583186"/>
            <a:ext cx="4229100" cy="767507"/>
          </a:xfrm>
          <a:prstGeom prst="roundRect">
            <a:avLst>
              <a:gd name="adj" fmla="val 4964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09550" y="3583186"/>
            <a:ext cx="0" cy="767507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1000" y="373558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3985022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 (22) • CDI (5) • ND (308)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4400" y="1593800"/>
            <a:ext cx="4229100" cy="1677888"/>
          </a:xfrm>
          <a:prstGeom prst="roundRect">
            <a:avLst>
              <a:gd name="adj" fmla="val 34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6800" y="1746200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METRICS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76800" y="2033736"/>
            <a:ext cx="40027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Index: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species diversity accounting for abundance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76800" y="2483197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Chao1 Index: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Estimates total species richness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2746028"/>
            <a:ext cx="40027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 Distance: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compositional change between Day 1 and Day 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4400" y="3385989"/>
            <a:ext cx="4229100" cy="954286"/>
          </a:xfrm>
          <a:prstGeom prst="roundRect">
            <a:avLst>
              <a:gd name="adj" fmla="val 598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76800" y="3538389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76800" y="3787825"/>
            <a:ext cx="40027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different antibiotic classes affect gut microbiome diversity differently?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Statistics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096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4737199"/>
            <a:ext cx="9252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335 patients</a:t>
            </a:r>
            <a:endParaRPr lang="en-US" sz="1000" dirty="0"/>
          </a:p>
        </p:txBody>
      </p:sp>
      <p:pic>
        <p:nvPicPr>
          <p:cNvPr id="5" name="Image 0" descr="/home/claude/pptx_project/176867164500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8412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of Outcomes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096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0500" y="1595586"/>
            <a:ext cx="2960340" cy="838051"/>
          </a:xfrm>
          <a:prstGeom prst="roundRect">
            <a:avLst>
              <a:gd name="adj" fmla="val 6819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1728936"/>
            <a:ext cx="27475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Diarrhea (ND)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3850" y="1927027"/>
            <a:ext cx="274751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buNone/>
            </a:pPr>
            <a:r>
              <a:rPr lang="en-US" sz="2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 </a:t>
            </a: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(91.9%)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90500" y="2547938"/>
            <a:ext cx="2960340" cy="838051"/>
          </a:xfrm>
          <a:prstGeom prst="roundRect">
            <a:avLst>
              <a:gd name="adj" fmla="val 6819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3850" y="2681288"/>
            <a:ext cx="27475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3850" y="2879378"/>
            <a:ext cx="274751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buNone/>
            </a:pPr>
            <a:r>
              <a:rPr lang="en-US" sz="2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</a:t>
            </a: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(6.6%)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90500" y="3500289"/>
            <a:ext cx="2960340" cy="838051"/>
          </a:xfrm>
          <a:prstGeom prst="roundRect">
            <a:avLst>
              <a:gd name="adj" fmla="val 6819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3850" y="3633639"/>
            <a:ext cx="27475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3850" y="3831729"/>
            <a:ext cx="274751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buNone/>
            </a:pPr>
            <a:r>
              <a:rPr lang="en-US" sz="2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(1.5%)</a:t>
            </a:r>
            <a:endParaRPr lang="en-US" sz="2100" dirty="0"/>
          </a:p>
        </p:txBody>
      </p:sp>
      <p:pic>
        <p:nvPicPr>
          <p:cNvPr id="13" name="Image 0" descr="/home/claude/pptx_project/176867147796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88720"/>
            <a:ext cx="53035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Shannon Diversity Distribution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70290" y="1771799"/>
            <a:ext cx="2583210" cy="826591"/>
          </a:xfrm>
          <a:prstGeom prst="roundRect">
            <a:avLst>
              <a:gd name="adj" fmla="val 691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89340" y="1771799"/>
            <a:ext cx="0" cy="826591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84590" y="1847999"/>
            <a:ext cx="24405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484590" y="2023170"/>
            <a:ext cx="24405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3.25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84590" y="2192685"/>
            <a:ext cx="24405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 3.39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84590" y="2362200"/>
            <a:ext cx="24405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0.13 - 4.47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70290" y="2655540"/>
            <a:ext cx="2583210" cy="826591"/>
          </a:xfrm>
          <a:prstGeom prst="roundRect">
            <a:avLst>
              <a:gd name="adj" fmla="val 6914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389340" y="2655540"/>
            <a:ext cx="0" cy="82659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84590" y="2731740"/>
            <a:ext cx="24405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484590" y="2906911"/>
            <a:ext cx="24405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2.86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84590" y="3076426"/>
            <a:ext cx="24405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 3.07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84590" y="3245941"/>
            <a:ext cx="24405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0.07 - 4.46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70290" y="3539282"/>
            <a:ext cx="2583210" cy="298996"/>
          </a:xfrm>
          <a:prstGeom prst="roundRect">
            <a:avLst>
              <a:gd name="adj" fmla="val 1911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6490" y="3615482"/>
            <a:ext cx="24794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decreased from Day 1 to Day 6</a:t>
            </a:r>
            <a:endParaRPr lang="en-US" sz="825" dirty="0"/>
          </a:p>
        </p:txBody>
      </p:sp>
      <p:pic>
        <p:nvPicPr>
          <p:cNvPr id="18" name="Image 0" descr="/home/claude/pptx_project/176867148754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Analysis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852" y="902047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Diversity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39852" y="4580483"/>
            <a:ext cx="4197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r = 0.221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607052" y="902047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Chao1 Diversity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607052" y="4580483"/>
            <a:ext cx="4197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r = 0.303</a:t>
            </a:r>
            <a:endParaRPr lang="en-US" sz="825" dirty="0"/>
          </a:p>
        </p:txBody>
      </p:sp>
      <p:pic>
        <p:nvPicPr>
          <p:cNvPr id="8" name="Image 0" descr="/home/claude/pptx_project/176867146350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4023360" cy="3017520"/>
          </a:xfrm>
          <a:prstGeom prst="rect">
            <a:avLst/>
          </a:prstGeom>
        </p:spPr>
      </p:pic>
      <p:pic>
        <p:nvPicPr>
          <p:cNvPr id="9" name="Image 1" descr="/home/claude/pptx_project/176867147249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4023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Shannon Diversity: Day 1 vs Day 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94090" y="2212628"/>
            <a:ext cx="2468910" cy="350490"/>
          </a:xfrm>
          <a:prstGeom prst="roundRect">
            <a:avLst>
              <a:gd name="adj" fmla="val 1630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89340" y="2321123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98890" y="2307878"/>
            <a:ext cx="6189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FQN</a:t>
            </a: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(n=56)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94090" y="2639318"/>
            <a:ext cx="2468910" cy="350490"/>
          </a:xfrm>
          <a:prstGeom prst="roundRect">
            <a:avLst>
              <a:gd name="adj" fmla="val 1630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89340" y="2747814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98890" y="2734568"/>
            <a:ext cx="6664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</a:t>
            </a: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(n=111)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94090" y="3066008"/>
            <a:ext cx="2468910" cy="350490"/>
          </a:xfrm>
          <a:prstGeom prst="roundRect">
            <a:avLst>
              <a:gd name="adj" fmla="val 1630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89340" y="3174504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60A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98890" y="3161258"/>
            <a:ext cx="6706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</a:t>
            </a: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(n=168)</a:t>
            </a:r>
            <a:endParaRPr lang="en-US" sz="900" dirty="0"/>
          </a:p>
        </p:txBody>
      </p:sp>
      <p:pic>
        <p:nvPicPr>
          <p:cNvPr id="13" name="Image 0" descr="/home/claude/pptx_project/176867150114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6692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7994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Jaccard Distance by Antibiotic Type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096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3160" y="1662410"/>
            <a:ext cx="2960340" cy="969466"/>
          </a:xfrm>
          <a:prstGeom prst="roundRect">
            <a:avLst>
              <a:gd name="adj" fmla="val 5895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26510" y="1795760"/>
            <a:ext cx="27475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Mean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510" y="1993850"/>
            <a:ext cx="27475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510" y="2351931"/>
            <a:ext cx="27475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0.24 - 0.95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993160" y="2727127"/>
            <a:ext cx="2960340" cy="1060698"/>
          </a:xfrm>
          <a:prstGeom prst="roundRect">
            <a:avLst>
              <a:gd name="adj" fmla="val 538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07460" y="2841427"/>
            <a:ext cx="27863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Antibiotic Class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07460" y="3077617"/>
            <a:ext cx="27863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FQN: 0.65 ± 0.020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107460" y="3288953"/>
            <a:ext cx="27863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OBL: 0.67 ± 0.013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107460" y="3500289"/>
            <a:ext cx="27863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0.64 ± 0.013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993160" y="3883075"/>
            <a:ext cx="2960340" cy="388590"/>
          </a:xfrm>
          <a:prstGeom prst="roundRect">
            <a:avLst>
              <a:gd name="adj" fmla="val 1470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07447" y="3883075"/>
            <a:ext cx="0" cy="38859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36035" y="3997375"/>
            <a:ext cx="27572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outliers detected</a:t>
            </a: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Jaccard distance</a:t>
            </a:r>
            <a:endParaRPr lang="en-US" sz="900" dirty="0"/>
          </a:p>
        </p:txBody>
      </p:sp>
      <p:pic>
        <p:nvPicPr>
          <p:cNvPr id="16" name="Image 0" descr="/home/claude/pptx_project/176867150688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3035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for Normality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25860"/>
            <a:ext cx="46168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Q-Q Plot: D6 Shannon Diversity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059710" y="1909911"/>
            <a:ext cx="3703290" cy="1051322"/>
          </a:xfrm>
          <a:prstGeom prst="roundRect">
            <a:avLst>
              <a:gd name="adj" fmla="val 543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93060" y="2043261"/>
            <a:ext cx="3505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SHAPIRO-WILK TEST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93060" y="2279452"/>
            <a:ext cx="35053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Shannon Diversity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193060" y="2528888"/>
            <a:ext cx="3436590" cy="298996"/>
          </a:xfrm>
          <a:prstGeom prst="roundRect">
            <a:avLst>
              <a:gd name="adj" fmla="val 127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69260" y="2605088"/>
            <a:ext cx="33498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whether data follows normal distribution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059710" y="3056483"/>
            <a:ext cx="3703290" cy="662880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93060" y="3189833"/>
            <a:ext cx="3505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93060" y="3426023"/>
            <a:ext cx="3505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Q-Q plot shows approximate normality with slight deviations at tails</a:t>
            </a:r>
            <a:endParaRPr lang="en-US" sz="900" dirty="0"/>
          </a:p>
        </p:txBody>
      </p:sp>
      <p:pic>
        <p:nvPicPr>
          <p:cNvPr id="13" name="Image 0" descr="/home/claude/pptx_project/176867152080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4572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for Homoscedasticity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25860"/>
            <a:ext cx="46168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Residuals vs Fitted Values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059710" y="1773734"/>
            <a:ext cx="3703290" cy="1342727"/>
          </a:xfrm>
          <a:prstGeom prst="roundRect">
            <a:avLst>
              <a:gd name="adj" fmla="val 425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93060" y="1907084"/>
            <a:ext cx="3505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BARTLETT TEST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93060" y="2143274"/>
            <a:ext cx="35053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 Distance ~ Antibiotic Class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193060" y="2392710"/>
            <a:ext cx="3436590" cy="590401"/>
          </a:xfrm>
          <a:prstGeom prst="roundRect">
            <a:avLst>
              <a:gd name="adj" fmla="val 645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69260" y="2468910"/>
            <a:ext cx="334987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K² = 3.865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69260" y="2746921"/>
            <a:ext cx="33498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 = 2, p = 0.145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59710" y="3211711"/>
            <a:ext cx="3703290" cy="643830"/>
          </a:xfrm>
          <a:prstGeom prst="roundRect">
            <a:avLst>
              <a:gd name="adj" fmla="val 887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78760" y="3211711"/>
            <a:ext cx="0" cy="64383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31160" y="3345061"/>
            <a:ext cx="3466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31160" y="3562201"/>
            <a:ext cx="3466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&gt; 0.05: Equal variances assumed</a:t>
            </a:r>
            <a:endParaRPr lang="en-US" sz="900" dirty="0"/>
          </a:p>
        </p:txBody>
      </p:sp>
      <p:pic>
        <p:nvPicPr>
          <p:cNvPr id="15" name="Image 0" descr="/home/claude/pptx_project/176867152714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4572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5760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Intervals: Jaccard Distance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home/claude/pptx_project/17686717213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Testing: T-Tests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883271"/>
            <a:ext cx="4114800" cy="1862584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201662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1: TWO-SAMPLE T-TEST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14350" y="2239417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Shannon: CDI vs ND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14350" y="2450753"/>
            <a:ext cx="3848100" cy="601861"/>
          </a:xfrm>
          <a:prstGeom prst="roundRect">
            <a:avLst>
              <a:gd name="adj" fmla="val 633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550" y="2526953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0.364, df = 311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0550" y="2725043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0.716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" y="312881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[-0.644, 0.936]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14350" y="3351609"/>
            <a:ext cx="3848100" cy="260896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340875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difference (p &gt; 0.05)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48200" y="1883271"/>
            <a:ext cx="4114800" cy="1862584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1550" y="201662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2: WELCH T-TEST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81550" y="2239417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Jaccard: OBL vs FQN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81550" y="2450753"/>
            <a:ext cx="3848100" cy="601861"/>
          </a:xfrm>
          <a:prstGeom prst="roundRect">
            <a:avLst>
              <a:gd name="adj" fmla="val 633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7750" y="2526953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-0.752, df = 102.69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7750" y="2725043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0.454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1550" y="312881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[-0.067, 0.030]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81550" y="3351609"/>
            <a:ext cx="3848100" cy="260896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38700" y="340875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difference (p &gt; 0.05)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61401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ANOVA: Jaccard Distance by Antibiotic Class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096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0500" y="1999506"/>
            <a:ext cx="4229100" cy="1935063"/>
          </a:xfrm>
          <a:prstGeom prst="roundRect">
            <a:avLst>
              <a:gd name="adj" fmla="val 295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151906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ANOVA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42900" y="2439442"/>
            <a:ext cx="3924300" cy="672257"/>
          </a:xfrm>
          <a:prstGeom prst="roundRect">
            <a:avLst>
              <a:gd name="adj" fmla="val 5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2563267"/>
            <a:ext cx="37501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Squares (Treatment)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66725" y="2774603"/>
            <a:ext cx="37501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" y="3206948"/>
            <a:ext cx="1238250" cy="575221"/>
          </a:xfrm>
          <a:prstGeom prst="roundRect">
            <a:avLst>
              <a:gd name="adj" fmla="val 66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7675" y="3311723"/>
            <a:ext cx="10492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F-value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47675" y="3477369"/>
            <a:ext cx="10492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1.253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695450" y="3206948"/>
            <a:ext cx="1238250" cy="575221"/>
          </a:xfrm>
          <a:prstGeom prst="roundRect">
            <a:avLst>
              <a:gd name="adj" fmla="val 66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00225" y="3311723"/>
            <a:ext cx="10492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800225" y="3477369"/>
            <a:ext cx="10492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2, 332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048000" y="3206948"/>
            <a:ext cx="1219200" cy="575221"/>
          </a:xfrm>
          <a:prstGeom prst="roundRect">
            <a:avLst>
              <a:gd name="adj" fmla="val 66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43250" y="3302198"/>
            <a:ext cx="10492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143250" y="3467844"/>
            <a:ext cx="10492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0.287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724400" y="1832670"/>
            <a:ext cx="4229100" cy="1497211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6800" y="1985070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TUKEY HSD POST-HOC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876800" y="2572643"/>
            <a:ext cx="3924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76800" y="2877443"/>
            <a:ext cx="3924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24400" y="3444180"/>
            <a:ext cx="4229100" cy="657076"/>
          </a:xfrm>
          <a:prstGeom prst="roundRect">
            <a:avLst>
              <a:gd name="adj" fmla="val 869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43450" y="3444180"/>
            <a:ext cx="0" cy="6570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5850" y="3577530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95850" y="3807916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differences between antibiotic classes (all p &gt; 0.05)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Model: Jaccard Distance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09600"/>
            <a:ext cx="5715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0500" y="1450777"/>
            <a:ext cx="4652070" cy="1535311"/>
          </a:xfrm>
          <a:prstGeom prst="roundRect">
            <a:avLst>
              <a:gd name="adj" fmla="val 372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603177"/>
            <a:ext cx="4434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COEFFICIENTS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42900" y="1890713"/>
            <a:ext cx="4347270" cy="295275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0500" y="3100388"/>
            <a:ext cx="4652070" cy="1382911"/>
          </a:xfrm>
          <a:prstGeom prst="roundRect">
            <a:avLst>
              <a:gd name="adj" fmla="val 413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3252788"/>
            <a:ext cx="4434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CONFIDENCE INTERVALS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3802261"/>
            <a:ext cx="434727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" y="4068961"/>
            <a:ext cx="434727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47370" y="1804243"/>
            <a:ext cx="3806130" cy="1337072"/>
          </a:xfrm>
          <a:prstGeom prst="roundRect">
            <a:avLst>
              <a:gd name="adj" fmla="val 42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09295" y="1966168"/>
            <a:ext cx="35519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FIT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292455" y="2253704"/>
            <a:ext cx="1717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92455" y="2438400"/>
            <a:ext cx="1717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90745" y="2253704"/>
            <a:ext cx="1717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 R²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090745" y="2438400"/>
            <a:ext cx="1717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74472" y="2819400"/>
            <a:ext cx="3551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SE: 0.156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7370" y="3255615"/>
            <a:ext cx="3806130" cy="874216"/>
          </a:xfrm>
          <a:prstGeom prst="roundRect">
            <a:avLst>
              <a:gd name="adj" fmla="val 653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166420" y="3255615"/>
            <a:ext cx="0" cy="87421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18820" y="3388965"/>
            <a:ext cx="3571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18820" y="3638401"/>
            <a:ext cx="35713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 class explains &lt;1% of variance in Jaccard distance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18820" y="3836491"/>
            <a:ext cx="35713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F(2,332) = 1.253, p = 0.287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Conclusions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5715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0500" y="1588294"/>
            <a:ext cx="4229100" cy="900708"/>
          </a:xfrm>
          <a:prstGeom prst="roundRect">
            <a:avLst>
              <a:gd name="adj" fmla="val 634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740694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CHANGES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42900" y="1990130"/>
            <a:ext cx="400278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diversity decreased from Day 1 (mean: 3.25) to Day 6 (mean: 2.86)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90500" y="2622352"/>
            <a:ext cx="4229100" cy="900708"/>
          </a:xfrm>
          <a:prstGeom prst="roundRect">
            <a:avLst>
              <a:gd name="adj" fmla="val 634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2774752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42900" y="3024188"/>
            <a:ext cx="400278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positive correlations between D1 and D6 (Shannon r=0.22, Chao1 r=0.30)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90500" y="3656409"/>
            <a:ext cx="4229100" cy="727472"/>
          </a:xfrm>
          <a:prstGeom prst="roundRect">
            <a:avLst>
              <a:gd name="adj" fmla="val 785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900" y="3808809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42900" y="4058245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91.9% had no diarrhea, 6.6% developed AAD, 1.5% developed CDI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24400" y="1492151"/>
            <a:ext cx="4229100" cy="900708"/>
          </a:xfrm>
          <a:prstGeom prst="roundRect">
            <a:avLst>
              <a:gd name="adj" fmla="val 634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6800" y="1644551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 COMPARISON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76800" y="1893987"/>
            <a:ext cx="400278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differences in Jaccard distance between FQN, OBL, and PBL classes (ANOVA p=0.287)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24400" y="2526209"/>
            <a:ext cx="4229100" cy="900708"/>
          </a:xfrm>
          <a:prstGeom prst="roundRect">
            <a:avLst>
              <a:gd name="adj" fmla="val 634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6800" y="2678609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 vs ND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76800" y="2928045"/>
            <a:ext cx="400278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difference in D6 Shannon diversity between CDI and ND groups (p=0.716)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24400" y="3560266"/>
            <a:ext cx="4229100" cy="919758"/>
          </a:xfrm>
          <a:prstGeom prst="roundRect">
            <a:avLst>
              <a:gd name="adj" fmla="val 6214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6325" y="372219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CONCLUSION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886325" y="3971627"/>
            <a:ext cx="398335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Microbiome compositional changes occur regardless of antibiotic class, suggesting similar disruption patterns across treatment types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608</Words>
  <Application>Microsoft Office PowerPoint</Application>
  <PresentationFormat>On-screen Show (16:9)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Antibiotic-Associated Diarrhea Analysis</dc:title>
  <dc:subject>PptxGenJS Presentation</dc:subject>
  <dc:creator>Statistical Analysis</dc:creator>
  <cp:lastModifiedBy>Ali Fouad Marzban</cp:lastModifiedBy>
  <cp:revision>2</cp:revision>
  <dcterms:created xsi:type="dcterms:W3CDTF">2026-01-17T17:57:29Z</dcterms:created>
  <dcterms:modified xsi:type="dcterms:W3CDTF">2026-01-17T18:17:15Z</dcterms:modified>
</cp:coreProperties>
</file>